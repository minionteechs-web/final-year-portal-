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Lecturer Overview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0" i="0">
                <a:solidFill>
                  <a:srgbClr val="C9D6E8"/>
                </a:solidFill>
                <a:latin typeface="Calibri"/>
              </a:rPr>
              <a:t>An Online Students’ System for Preknowledge and Overview of Lecturers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Department of Computer Science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University of Nigeria, Nsukka (UNN)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C9D6E8"/>
                </a:solidFill>
                <a:latin typeface="Calibri"/>
              </a:rPr>
              <a:t>BSc Computer Science — Final Year Project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5778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C9D6E8"/>
                </a:solidFill>
                <a:latin typeface="Calibri"/>
              </a:rPr>
              <a:t>Presented by: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C9D6E8"/>
                </a:solidFill>
                <a:latin typeface="Calibri"/>
              </a:rPr>
              <a:t>Eze Dominion Chibuikem    2022/249776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C9D6E8"/>
                </a:solidFill>
                <a:latin typeface="Calibri"/>
              </a:rPr>
              <a:t>Eze David Nnaemeka        2022/250529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C9D6E8"/>
                </a:solidFill>
                <a:latin typeface="Calibri"/>
              </a:rPr>
              <a:t>Eze Daberechukwu Henry    2022/244839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C9D6E8"/>
                </a:solidFill>
                <a:latin typeface="Calibri"/>
              </a:rPr>
              <a:t>Supervisor:  Dr E. C Ukekwe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C9D6E8"/>
                </a:solidFill>
                <a:latin typeface="Calibri"/>
              </a:rPr>
              <a:t>Date: 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C9D6E8"/>
                </a:solidFill>
                <a:latin typeface="Calibri"/>
              </a:rPr>
              <a:t>Problem, aim and outcome in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7432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C9D6E8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Department of Computer Science, University of Nigeria, Nsukka  |  Lecturer Overview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▪  Problem: </a:t>
            </a:r>
            <a:r>
              <a:rPr sz="1800" b="0">
                <a:solidFill>
                  <a:srgbClr val="555555"/>
                </a:solidFill>
                <a:latin typeface="Calibri"/>
              </a:rPr>
              <a:t>Students begin semesters without reliable, dimensional information about how their lecturers teach, relying on incomplete informal peer narratives.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▪  Gap: </a:t>
            </a:r>
            <a:r>
              <a:rPr sz="1800" b="0">
                <a:solidFill>
                  <a:srgbClr val="555555"/>
                </a:solidFill>
                <a:latin typeface="Calibri"/>
              </a:rPr>
              <a:t>Formal appraisal under-emphasises teaching; existing feedback is management-centred or paper-slow, with no continuous chart-driven overview for students.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▪  Aim: </a:t>
            </a:r>
            <a:r>
              <a:rPr sz="1800" b="0">
                <a:solidFill>
                  <a:srgbClr val="555555"/>
                </a:solidFill>
                <a:latin typeface="Calibri"/>
              </a:rPr>
              <a:t>To design and develop an online students’ system for preknowledge and overview of lecturers in the Department of Computer Science, UNN.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▪  Solution: </a:t>
            </a:r>
            <a:r>
              <a:rPr sz="1800" b="0">
                <a:solidFill>
                  <a:srgbClr val="555555"/>
                </a:solidFill>
                <a:latin typeface="Calibri"/>
              </a:rPr>
              <a:t>A PHP/MySQL web portal grounded in eight lecturer-validated qualities (interactiveness, audibility, lecture notes, class control, communication, punctuality, fairness, approachability), with automated student assessments and aggregated chart-driven overviews.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▪  Outcome: </a:t>
            </a:r>
            <a:r>
              <a:rPr sz="1800" b="0">
                <a:solidFill>
                  <a:srgbClr val="555555"/>
                </a:solidFill>
                <a:latin typeface="Calibri"/>
              </a:rPr>
              <a:t>Students prepare with evidence; lecturers receive formative feedback and avoid semester-to-semester reputational resets caused by misconception.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Objectives of the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C9D6E8"/>
                </a:solidFill>
                <a:latin typeface="Calibri"/>
              </a:rPr>
              <a:t>Specific objectives of 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7432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C9D6E8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Department of Computer Science, University of Nigeria, Nsukka  |  Lecturer Overview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900" b="1">
                <a:solidFill>
                  <a:srgbClr val="1F3A5F"/>
                </a:solidFill>
                <a:latin typeface="Calibri"/>
              </a:rPr>
              <a:t>▪  Objective 1 — Qualities: </a:t>
            </a:r>
            <a:r>
              <a:rPr sz="1900" b="0">
                <a:solidFill>
                  <a:srgbClr val="555555"/>
                </a:solidFill>
                <a:latin typeface="Calibri"/>
              </a:rPr>
              <a:t>Ascertain lecturer assessment qualities through oral interviews with lecturers, focusing on eight indicators.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900" b="1">
                <a:solidFill>
                  <a:srgbClr val="1F3A5F"/>
                </a:solidFill>
                <a:latin typeface="Calibri"/>
              </a:rPr>
              <a:t>▪  Objective 2 — Form: </a:t>
            </a:r>
            <a:r>
              <a:rPr sz="1900" b="0">
                <a:solidFill>
                  <a:srgbClr val="555555"/>
                </a:solidFill>
                <a:latin typeface="Calibri"/>
              </a:rPr>
              <a:t>Design an automated response form through which students can assess lecturers on the identified qualities.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900" b="1">
                <a:solidFill>
                  <a:srgbClr val="1F3A5F"/>
                </a:solidFill>
                <a:latin typeface="Calibri"/>
              </a:rPr>
              <a:t>▪  Objective 3 — Portal: </a:t>
            </a:r>
            <a:r>
              <a:rPr sz="1900" b="0">
                <a:solidFill>
                  <a:srgbClr val="555555"/>
                </a:solidFill>
                <a:latin typeface="Calibri"/>
              </a:rPr>
              <a:t>Develop a web-based lecturer assessment portal using PHP, with dashboards and charts presenting aggregated overview information.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160520"/>
            <a:ext cx="11064240" cy="1920240"/>
          </a:xfrm>
          <a:prstGeom prst="rect">
            <a:avLst/>
          </a:prstGeom>
          <a:solidFill>
            <a:srgbClr val="EEF3F8"/>
          </a:solidFill>
          <a:ln w="1270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297680"/>
            <a:ext cx="1069848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</a:rPr>
              <a:t>The eight lecturer-validated qualities: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Interactiveness  •  Audibility  •  Lecture Notes  •  Class Control  •  Communication  •  Punctuality  •  Fairness  •  Approachability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Data Flow Diagram — Level 1 (Context)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C9D6E8"/>
                </a:solidFill>
                <a:latin typeface="Calibri"/>
              </a:rPr>
              <a:t>External entities interacting with the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7432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C9D6E8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Department of Computer Science, University of Nigeria, Nsukka  |  Lecturer Overview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737360"/>
            <a:ext cx="3291840" cy="283464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78308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LECTURER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240280"/>
            <a:ext cx="329184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Portal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Registration • Login •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Assessment • Aggregation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Charts • Feedback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103120"/>
            <a:ext cx="2194560" cy="7772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8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Student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103120"/>
            <a:ext cx="2194560" cy="7772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224028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Lecturer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5394960"/>
            <a:ext cx="2194560" cy="7772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553212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Administrator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26080" y="2487168"/>
            <a:ext cx="155448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108960" y="228600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1">
                <a:solidFill>
                  <a:srgbClr val="555555"/>
                </a:solidFill>
                <a:latin typeface="Calibri"/>
              </a:rPr>
              <a:t>assessment, login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2926080" y="2743200"/>
            <a:ext cx="155448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108960" y="27889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1">
                <a:solidFill>
                  <a:srgbClr val="555555"/>
                </a:solidFill>
                <a:latin typeface="Calibri"/>
              </a:rPr>
              <a:t>dashboard, charts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7772400" y="2487168"/>
            <a:ext cx="36576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0" y="228600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1">
                <a:solidFill>
                  <a:srgbClr val="555555"/>
                </a:solidFill>
                <a:latin typeface="Calibri"/>
              </a:rPr>
              <a:t>profile, feedback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0" y="2743200"/>
            <a:ext cx="36576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0" y="27889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1">
                <a:solidFill>
                  <a:srgbClr val="555555"/>
                </a:solidFill>
                <a:latin typeface="Calibri"/>
              </a:rPr>
              <a:t>aggregated ratings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577840" y="4480560"/>
            <a:ext cx="0" cy="9144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669280" y="429768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1">
                <a:solidFill>
                  <a:srgbClr val="555555"/>
                </a:solidFill>
                <a:latin typeface="Calibri"/>
              </a:rPr>
              <a:t>users, courses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5577840" y="4572000"/>
            <a:ext cx="0" cy="54864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669280" y="489204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1">
                <a:solidFill>
                  <a:srgbClr val="555555"/>
                </a:solidFill>
                <a:latin typeface="Calibri"/>
              </a:rPr>
              <a:t>reports, manage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1">
                <a:solidFill>
                  <a:srgbClr val="555555"/>
                </a:solidFill>
                <a:latin typeface="Calibri"/>
              </a:rPr>
              <a:t>Note: Design only — no screenshots, per defense guidelines.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DFD Components — Level 1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C9D6E8"/>
                </a:solidFill>
                <a:latin typeface="Calibri"/>
              </a:rPr>
              <a:t>External entities, processes, data stores, data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7432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C9D6E8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Department of Computer Science, University of Nigeria, Nsukka  |  Lecturer Overview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61188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3611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External Entities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37360"/>
            <a:ext cx="3611880" cy="4160520"/>
          </a:xfrm>
          <a:prstGeom prst="rect">
            <a:avLst/>
          </a:prstGeom>
          <a:solidFill>
            <a:srgbClr val="EEF3F8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28800"/>
            <a:ext cx="3337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555555"/>
                </a:solidFill>
                <a:latin typeface="Calibri"/>
              </a:rPr>
              <a:t>▪  Student — registers, logs in, assesses lecturers, views charts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555555"/>
                </a:solidFill>
                <a:latin typeface="Calibri"/>
              </a:rPr>
              <a:t>▪  Lecturer — views own profile and aggregated ratings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555555"/>
                </a:solidFill>
                <a:latin typeface="Calibri"/>
              </a:rPr>
              <a:t>▪  Administrator — manages users, courses, system feedback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280160"/>
            <a:ext cx="3611880" cy="4572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325880"/>
            <a:ext cx="3611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Processes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737360"/>
            <a:ext cx="3611880" cy="4160520"/>
          </a:xfrm>
          <a:prstGeom prst="rect">
            <a:avLst/>
          </a:prstGeom>
          <a:solidFill>
            <a:srgbClr val="EEF3F8"/>
          </a:solidFill>
          <a:ln w="1270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828800"/>
            <a:ext cx="3337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555555"/>
                </a:solidFill>
                <a:latin typeface="Calibri"/>
              </a:rPr>
              <a:t>▪  P1: Registration &amp; authentication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555555"/>
                </a:solidFill>
                <a:latin typeface="Calibri"/>
              </a:rPr>
              <a:t>▪  P2: Lecturer assessment (8 qualities)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555555"/>
                </a:solidFill>
                <a:latin typeface="Calibri"/>
              </a:rPr>
              <a:t>▪  P3: Rating aggregation &amp; averaging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555555"/>
                </a:solidFill>
                <a:latin typeface="Calibri"/>
              </a:rPr>
              <a:t>▪  P4: Chart / dashboard generation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555555"/>
                </a:solidFill>
                <a:latin typeface="Calibri"/>
              </a:rPr>
              <a:t>▪  P5: System feedback management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80" y="1280160"/>
            <a:ext cx="3611880" cy="45720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1325880"/>
            <a:ext cx="3611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Data Stores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80" y="1737360"/>
            <a:ext cx="3611880" cy="4160520"/>
          </a:xfrm>
          <a:prstGeom prst="rect">
            <a:avLst/>
          </a:prstGeom>
          <a:solidFill>
            <a:srgbClr val="EEF3F8"/>
          </a:solidFill>
          <a:ln w="127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1828800"/>
            <a:ext cx="3337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555555"/>
                </a:solidFill>
                <a:latin typeface="Calibri"/>
              </a:rPr>
              <a:t>▪  DS1: users (students, lecturers, admin)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555555"/>
                </a:solidFill>
                <a:latin typeface="Calibri"/>
              </a:rPr>
              <a:t>▪  DS2: lecturers (profile, bio, office)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555555"/>
                </a:solidFill>
                <a:latin typeface="Calibri"/>
              </a:rPr>
              <a:t>▪  DS3: courses (code, title, level)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555555"/>
                </a:solidFill>
                <a:latin typeface="Calibri"/>
              </a:rPr>
              <a:t>▪  DS4: assessments (ratings + comments)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555555"/>
                </a:solidFill>
                <a:latin typeface="Calibri"/>
              </a:rPr>
              <a:t>▪  DS5: system_feedback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704320" y="1280160"/>
            <a:ext cx="3611880" cy="457200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704320" y="1325880"/>
            <a:ext cx="3611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Data Flows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704320" y="1737360"/>
            <a:ext cx="3611880" cy="4160520"/>
          </a:xfrm>
          <a:prstGeom prst="rect">
            <a:avLst/>
          </a:prstGeom>
          <a:solidFill>
            <a:srgbClr val="EEF3F8"/>
          </a:solidFill>
          <a:ln w="12700">
            <a:solidFill>
              <a:srgbClr val="B977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41480" y="1828800"/>
            <a:ext cx="3337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555555"/>
                </a:solidFill>
                <a:latin typeface="Calibri"/>
              </a:rPr>
              <a:t>▪  Student → Portal: credentials, ratings, feedback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555555"/>
                </a:solidFill>
                <a:latin typeface="Calibri"/>
              </a:rPr>
              <a:t>▪  Portal → Student: dashboard, lecturer charts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555555"/>
                </a:solidFill>
                <a:latin typeface="Calibri"/>
              </a:rPr>
              <a:t>▪  Lecturer → Portal: profile queries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555555"/>
                </a:solidFill>
                <a:latin typeface="Calibri"/>
              </a:rPr>
              <a:t>▪  Portal → Lecturer: aggregated ratings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555555"/>
                </a:solidFill>
                <a:latin typeface="Calibri"/>
              </a:rPr>
              <a:t>▪  Admin → Portal: user/course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Input Design — Sample 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C9D6E8"/>
                </a:solidFill>
                <a:latin typeface="Calibri"/>
              </a:rPr>
              <a:t>Design only; no screenshots, per guidelines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7432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C9D6E8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Department of Computer Science, University of Nigeria, Nsukka  |  Lecturer Overview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440680" cy="4572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99032"/>
            <a:ext cx="5440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Student Registration / Login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440680" cy="1417320"/>
          </a:xfrm>
          <a:prstGeom prst="rect">
            <a:avLst/>
          </a:prstGeom>
          <a:solidFill>
            <a:srgbClr val="EEF3F8"/>
          </a:solidFill>
          <a:ln w="1270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56232"/>
            <a:ext cx="5166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▪  Full name, email, password, role (student/lecturer/admin)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▪  Matric number, department, academic level (for students)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▪  Email + password for authenticated access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5440680" cy="4572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456432"/>
            <a:ext cx="5440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Lecturer Assessment 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5440680" cy="1417320"/>
          </a:xfrm>
          <a:prstGeom prst="rect">
            <a:avLst/>
          </a:prstGeom>
          <a:solidFill>
            <a:srgbClr val="EEF3F8"/>
          </a:solidFill>
          <a:ln w="1270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913632"/>
            <a:ext cx="5166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▪  Select lecturer and enrolled course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▪  Rate 8 qualities on a 1–5 scale: interactiveness, audibility,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▪  lecture notes, class control, communication, punctuality, fairness,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▪  approachability; optional comment box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325880"/>
            <a:ext cx="5440680" cy="4572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399032"/>
            <a:ext cx="5440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System Feedback Form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783080"/>
            <a:ext cx="5440680" cy="1417320"/>
          </a:xfrm>
          <a:prstGeom prst="rect">
            <a:avLst/>
          </a:prstGeom>
          <a:solidFill>
            <a:srgbClr val="EEF3F8"/>
          </a:solidFill>
          <a:ln w="1270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856232"/>
            <a:ext cx="5166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▪  Subject line and message body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▪  Linked to authenticated user (anonymous option via NULL user_id)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383280"/>
            <a:ext cx="5440680" cy="4572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3456432"/>
            <a:ext cx="5440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Admin Management Inputs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840480"/>
            <a:ext cx="5440680" cy="1417320"/>
          </a:xfrm>
          <a:prstGeom prst="rect">
            <a:avLst/>
          </a:prstGeom>
          <a:solidFill>
            <a:srgbClr val="EEF3F8"/>
          </a:solidFill>
          <a:ln w="1270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913632"/>
            <a:ext cx="5166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▪  Create/edit courses (code, title, level, type, semester)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▪  Assign lecturers to courses (course_lecturers)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▪  Manage user accounts and roles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1">
                <a:solidFill>
                  <a:srgbClr val="555555"/>
                </a:solidFill>
                <a:latin typeface="Calibri"/>
              </a:rPr>
              <a:t>All inputs are validated server-side (PHP) and stored in the MySQL lecturer_overview database.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Output Design — Sample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C9D6E8"/>
                </a:solidFill>
                <a:latin typeface="Calibri"/>
              </a:rPr>
              <a:t>Design only; no screenshots, per guidelines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7432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C9D6E8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Department of Computer Science, University of Nigeria, Nsukka  |  Lecturer Overview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44068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99032"/>
            <a:ext cx="5440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Student Dashboard / Lecturer Chart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440680" cy="1417320"/>
          </a:xfrm>
          <a:prstGeom prst="rect">
            <a:avLst/>
          </a:prstGeom>
          <a:solidFill>
            <a:srgbClr val="EEF3F8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56232"/>
            <a:ext cx="5166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▪  Bar/radar chart of aggregated ratings across 8 qualities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▪  Per-lecturer overview for course preparation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▪  Overall mean score and response count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544068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456432"/>
            <a:ext cx="5440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Lecturer Profile Page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5440680" cy="1417320"/>
          </a:xfrm>
          <a:prstGeom prst="rect">
            <a:avLst/>
          </a:prstGeom>
          <a:solidFill>
            <a:srgbClr val="EEF3F8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913632"/>
            <a:ext cx="5166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▪  Bio, office, research area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▪  Aggregated student ratings per course taught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▪  Trend of feedback over sessions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325880"/>
            <a:ext cx="544068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399032"/>
            <a:ext cx="5440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Admin Reports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783080"/>
            <a:ext cx="5440680" cy="1417320"/>
          </a:xfrm>
          <a:prstGeom prst="rect">
            <a:avLst/>
          </a:prstGeom>
          <a:solidFill>
            <a:srgbClr val="EEF3F8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856232"/>
            <a:ext cx="5166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▪  Total users, courses, assessments, enrollments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▪  Feedback inbox table (subject, message, date)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▪  Course and lecturer listings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383280"/>
            <a:ext cx="544068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3456432"/>
            <a:ext cx="5440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System Feedback History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840480"/>
            <a:ext cx="5440680" cy="1417320"/>
          </a:xfrm>
          <a:prstGeom prst="rect">
            <a:avLst/>
          </a:prstGeom>
          <a:solidFill>
            <a:srgbClr val="EEF3F8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913632"/>
            <a:ext cx="5166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▪  List of prior feedback submitted by a user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▪  Flash confirmation on successful submission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1">
                <a:solidFill>
                  <a:srgbClr val="555555"/>
                </a:solidFill>
                <a:latin typeface="Calibri"/>
              </a:rPr>
              <a:t>Outputs are generated from aggregated MySQL queries and rendered with PHP + Chart.js on role-based dashboards.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Database Design — Core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C9D6E8"/>
                </a:solidFill>
                <a:latin typeface="Calibri"/>
              </a:rPr>
              <a:t>Relational schema (MySQL, InnoDB)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7432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C9D6E8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Department of Computer Science, University of Nigeria, Nsukka  |  Lecturer Overview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280160"/>
          <a:ext cx="11247120" cy="4169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869680"/>
              </a:tblGrid>
              <a:tr h="36576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Table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Key Columns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3A5F"/>
                          </a:solidFill>
                        </a:rPr>
                        <a:t>users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55555"/>
                          </a:solidFill>
                        </a:rPr>
                        <a:t>id, full_name, email, password, role, department, matric_number, academic_level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3A5F"/>
                          </a:solidFill>
                        </a:rPr>
                        <a:t>lecturers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55555"/>
                          </a:solidFill>
                        </a:rPr>
                        <a:t>id, user_id, title, bio, office_location, research_area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3A5F"/>
                          </a:solidFill>
                        </a:rPr>
                        <a:t>courses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55555"/>
                          </a:solidFill>
                        </a:rPr>
                        <a:t>id, course_code, course_title, department, level, course_type, semester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3A5F"/>
                          </a:solidFill>
                        </a:rPr>
                        <a:t>course_lecturers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55555"/>
                          </a:solidFill>
                        </a:rPr>
                        <a:t>course_id, lecturer_id (many-to-many link)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3A5F"/>
                          </a:solidFill>
                        </a:rPr>
                        <a:t>student_enrollments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55555"/>
                          </a:solidFill>
                        </a:rPr>
                        <a:t>student_id, course_id (enrolment record)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3A5F"/>
                          </a:solidFill>
                        </a:rPr>
                        <a:t>assessments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55555"/>
                          </a:solidFill>
                        </a:rPr>
                        <a:t>student_id, lecturer_id, course_id, 8 qualities, comment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3A5F"/>
                          </a:solidFill>
                        </a:rPr>
                        <a:t>system_feedback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55555"/>
                          </a:solidFill>
                        </a:rPr>
                        <a:t>user_id, subject, message, created_at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3A5F"/>
                          </a:solidFill>
                        </a:rPr>
                        <a:t>password_resets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55555"/>
                          </a:solidFill>
                        </a:rPr>
                        <a:t>email, token, expires_at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Technology Stack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C9D6E8"/>
                </a:solidFill>
                <a:latin typeface="Calibri"/>
              </a:rPr>
              <a:t>PHP • MySQL • Chart.js • Bootstrap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7432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C9D6E8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Department of Computer Science, University of Nigeria, Nsukka  |  Lecturer Overview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700" b="1">
                <a:solidFill>
                  <a:srgbClr val="1F3A5F"/>
                </a:solidFill>
                <a:latin typeface="Calibri"/>
              </a:rPr>
              <a:t>▪  Frontend</a:t>
            </a:r>
            <a:r>
              <a:rPr sz="1700" b="0">
                <a:solidFill>
                  <a:srgbClr val="555555"/>
                </a:solidFill>
                <a:latin typeface="Calibri"/>
              </a:rPr>
              <a:t>HTML5, CSS3, Bootstrap 5, JavaScript, Chart.js for rating charts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700" b="1">
                <a:solidFill>
                  <a:srgbClr val="1F3A5F"/>
                </a:solidFill>
                <a:latin typeface="Calibri"/>
              </a:rPr>
              <a:t>▪  Backend</a:t>
            </a:r>
            <a:r>
              <a:rPr sz="1700" b="0">
                <a:solidFill>
                  <a:srgbClr val="555555"/>
                </a:solidFill>
                <a:latin typeface="Calibri"/>
              </a:rPr>
              <a:t>PHP 8 (native MySQLi prepared statements), session-based role auth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700" b="1">
                <a:solidFill>
                  <a:srgbClr val="1F3A5F"/>
                </a:solidFill>
                <a:latin typeface="Calibri"/>
              </a:rPr>
              <a:t>▪  Database</a:t>
            </a:r>
            <a:r>
              <a:rPr sz="1700" b="0">
                <a:solidFill>
                  <a:srgbClr val="555555"/>
                </a:solidFill>
                <a:latin typeface="Calibri"/>
              </a:rPr>
              <a:t>MySQL / MariaDB — lecturer_overview, InnoDB with foreign keys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700" b="1">
                <a:solidFill>
                  <a:srgbClr val="1F3A5F"/>
                </a:solidFill>
                <a:latin typeface="Calibri"/>
              </a:rPr>
              <a:t>▪  Security</a:t>
            </a:r>
            <a:r>
              <a:rPr sz="1700" b="0">
                <a:solidFill>
                  <a:srgbClr val="555555"/>
                </a:solidFill>
                <a:latin typeface="Calibri"/>
              </a:rPr>
              <a:t>CSRF tokens on forms, bcrypt password hashing, prepared statements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700" b="1">
                <a:solidFill>
                  <a:srgbClr val="1F3A5F"/>
                </a:solidFill>
                <a:latin typeface="Calibri"/>
              </a:rPr>
              <a:t>▪  Roles</a:t>
            </a:r>
            <a:r>
              <a:rPr sz="1700" b="0">
                <a:solidFill>
                  <a:srgbClr val="555555"/>
                </a:solidFill>
                <a:latin typeface="Calibri"/>
              </a:rPr>
              <a:t>Student • Lecturer • Administrator (role-based dashboards)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C9D6E8"/>
                </a:solidFill>
                <a:latin typeface="Calibri"/>
              </a:rPr>
              <a:t>Impact and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27432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C9D6E8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Department of Computer Science, University of Nigeria, Nsukka  |  Lecturer Overview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▪  For students: </a:t>
            </a:r>
            <a:r>
              <a:rPr sz="1800" b="0">
                <a:solidFill>
                  <a:srgbClr val="555555"/>
                </a:solidFill>
                <a:latin typeface="Calibri"/>
              </a:rPr>
              <a:t>Evidence-based preknowledge of teaching style; less dependence on rumour.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▪  For lecturers: </a:t>
            </a:r>
            <a:r>
              <a:rPr sz="1800" b="0">
                <a:solidFill>
                  <a:srgbClr val="555555"/>
                </a:solidFill>
                <a:latin typeface="Calibri"/>
              </a:rPr>
              <a:t>Organised formative feedback; stable reputation across cohorts.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▪  For the Department: </a:t>
            </a:r>
            <a:r>
              <a:rPr sz="1800" b="0">
                <a:solidFill>
                  <a:srgbClr val="555555"/>
                </a:solidFill>
                <a:latin typeface="Calibri"/>
              </a:rPr>
              <a:t>A practical student-facing quality-assurance and orientation tool.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▪  Future work: </a:t>
            </a:r>
            <a:r>
              <a:rPr sz="1800" b="0">
                <a:solidFill>
                  <a:srgbClr val="555555"/>
                </a:solidFill>
                <a:latin typeface="Calibri"/>
              </a:rPr>
              <a:t>Email notifications, lecturer reply to feedback, mobile UI, department-wide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120640"/>
            <a:ext cx="11064240" cy="1005840"/>
          </a:xfrm>
          <a:prstGeom prst="rect">
            <a:avLst/>
          </a:prstGeom>
          <a:solidFill>
            <a:srgbClr val="EEF3F8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12080"/>
            <a:ext cx="10698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F3A5F"/>
                </a:solidFill>
                <a:latin typeface="Calibri"/>
              </a:rPr>
              <a:t>Thank you —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